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Training Annotations per Class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Annotations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Red Blood Cell</c:v>
                  </c:pt>
                  <c:pt idx="1">
                    <c:v>Trophozoite</c:v>
                  </c:pt>
                  <c:pt idx="2">
                    <c:v>Ring</c:v>
                  </c:pt>
                  <c:pt idx="3">
                    <c:v>Schizont</c:v>
                  </c:pt>
                  <c:pt idx="4">
                    <c:v>Gametocyte</c:v>
                  </c:pt>
                  <c:pt idx="5">
                    <c:v>Leukocyte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77420</c:v>
                </c:pt>
                <c:pt idx="1">
                  <c:v>1473</c:v>
                </c:pt>
                <c:pt idx="2">
                  <c:v>353</c:v>
                </c:pt>
                <c:pt idx="3">
                  <c:v>179</c:v>
                </c:pt>
                <c:pt idx="4">
                  <c:v>144</c:v>
                </c:pt>
                <c:pt idx="5">
                  <c:v>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2A4A"/>
                </a:solidFill>
                <a:latin typeface="Arial"/>
              </a:rPr>
              <a:t>Per-Class AP@0.5 — Baseline 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AP@0.5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Red Blood Cell</c:v>
                  </c:pt>
                  <c:pt idx="1">
                    <c:v>Leukocyte</c:v>
                  </c:pt>
                  <c:pt idx="2">
                    <c:v>Trophozoite</c:v>
                  </c:pt>
                  <c:pt idx="3">
                    <c:v>Ring</c:v>
                  </c:pt>
                  <c:pt idx="4">
                    <c:v>Gametocyte</c:v>
                  </c:pt>
                  <c:pt idx="5">
                    <c:v>Schizont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90.94</c:v>
                </c:pt>
                <c:pt idx="1">
                  <c:v>88.12</c:v>
                </c:pt>
                <c:pt idx="2">
                  <c:v>67.22</c:v>
                </c:pt>
                <c:pt idx="3">
                  <c:v>57.17</c:v>
                </c:pt>
                <c:pt idx="4">
                  <c:v>25.95</c:v>
                </c:pt>
                <c:pt idx="5">
                  <c:v>24.57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011680"/>
            <a:ext cx="2377440" cy="237744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57200"/>
            <a:ext cx="21031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7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RESEARCH PREVIEW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MalariAI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Label-Resilient Decoupled Framework for Universal Cell Segmentation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Explainable Stage Classification in Dense Malaria Blood Smears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4864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54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Kaysarul Anas Apurba</a:t>
            </a:r>
            <a:pPr algn="l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478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Laurentian University, Canada</a:t>
            </a:r>
            <a:pPr algn="l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l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Melbourne Institute of Technology, Australia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venue: arXiv / MICCAI  ·  Live demo: Hugging Face Spaces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Global Burden of Malaria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25603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249M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globally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(WHO, 2022)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5603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608K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Sub-Saharan Africa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051560"/>
            <a:ext cx="25603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537:1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94360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to Gametocyte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NIH BBBC041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deep learning hasn't solved this yet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microscopy remains the clinical gold standard. Expert microscopists are scarce in endemic regions. Deep learning approaches exist — but three compounding failure modes prevent clinical deployment in every published system.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879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all three failure modes simultaneously — in a single, deployable, explainable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Unsolved Problems in Malaria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12344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64008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987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Incomplete Annotation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detectors treat every unannotated cell as background. In NIH BBBC041, most healthy RBCs are not individually labelled — the model learns the wrong signal.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9320" y="1005840"/>
            <a:ext cx="2697480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005840"/>
            <a:ext cx="2606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Prior work: unannotated = background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0" y="1581912"/>
            <a:ext cx="2697480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581912"/>
            <a:ext cx="2606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MalariAI: watershed finds ALL cells — label-agnostic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12344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64008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8600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23591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 Overlap &amp; NMS Failure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72491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Suppression deletes overlapping proposals assuming they are duplicates. 58% of BBBC041 images have genuinely overlapping cells — NMS discards real detections.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2377440"/>
            <a:ext cx="2697480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377440"/>
            <a:ext cx="2606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Prior work: filter dense images out entirely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9320" y="2953512"/>
            <a:ext cx="2697480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953512"/>
            <a:ext cx="2606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MalariAI: distance transform splits touching cells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8412480" cy="12344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57600"/>
            <a:ext cx="64008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5760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37307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Black-Box Clinical Output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09651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whole-slide malaria system produces per-cell spatial attention heatmaps. Physicians cannot see what the model is looking at — blocking clinical adoption.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9320" y="3749040"/>
            <a:ext cx="2697480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749040"/>
            <a:ext cx="2606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Prior work: opaque class label only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89320" y="4325112"/>
            <a:ext cx="2697480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4325112"/>
            <a:ext cx="2606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MalariAI: Grad-CAM++ heatmap per cell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NIH BBBC041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1965960" cy="896112"/>
          </a:xfrm>
          <a:prstGeom prst="rect">
            <a:avLst/>
          </a:prstGeom>
          <a:solidFill>
            <a:srgbClr val="E8F4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8696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1,208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868680"/>
            <a:ext cx="1965960" cy="896112"/>
          </a:xfrm>
          <a:prstGeom prst="rect">
            <a:avLst/>
          </a:prstGeom>
          <a:solidFill>
            <a:srgbClr val="E8F4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88696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79,672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389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bounding boxes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1965960" cy="896112"/>
          </a:xfrm>
          <a:prstGeom prst="rect">
            <a:avLst/>
          </a:prstGeom>
          <a:solidFill>
            <a:srgbClr val="E8F4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8696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389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868680"/>
            <a:ext cx="1965960" cy="896112"/>
          </a:xfrm>
          <a:prstGeom prst="rect">
            <a:avLst/>
          </a:prstGeom>
          <a:solidFill>
            <a:srgbClr val="E8F4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88696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389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with overlapping cells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5760" y="1874520"/>
          <a:ext cx="53035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806440" y="1874520"/>
            <a:ext cx="2971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06440" y="1874520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70448" y="1920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537:1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5870448" y="2606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RBC-to-Gametocyte ratio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Focal Loss (γ=2.0)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06440" y="3337560"/>
            <a:ext cx="2971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06440" y="3337560"/>
            <a:ext cx="64008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342900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Giemsa-stained </a:t>
            </a:r>
            <a:pPr algn="l" indent="0" marL="0">
              <a:buNone/>
            </a:pPr>
            <a:r>
              <a:rPr lang="en-US" sz="11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falciparum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blood smears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1600×1200 px · 100× oil objective
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Bioimage Benchmark Collection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MalariAI: Two-Stage Decoupled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794760" cy="3520440"/>
          </a:xfrm>
          <a:prstGeom prst="rect">
            <a:avLst/>
          </a:prstGeom>
          <a:solidFill>
            <a:srgbClr val="E8F4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794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CELL SEGMENTATION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blood smear (1600×1200 px)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293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thresholding — global binarisation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500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opening — noise removal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706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transform — topology map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9125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Marker-based watershed — cell separation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 individual 64×64 crops (label-agnostic)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87952" y="1371600"/>
            <a:ext cx="548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023360" cy="3520440"/>
          </a:xfrm>
          <a:prstGeom prst="rect">
            <a:avLst/>
          </a:prstGeom>
          <a:solidFill>
            <a:srgbClr val="EFF6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914400"/>
            <a:ext cx="40233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914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CLASSIFICATION + XAI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5361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(5.3M parameters)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20208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 γ=2.0, per-class α from EDA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25054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7-class head: background + 6 categories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29900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Grad-CAM++ spatial heatmap per cell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Class label + confidence + heatmap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is annotation-agnostic — it finds every cell the dataset never labelled. Stage 2 never encounters NMS.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A: Faster R-CNN — 80 Epochs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224028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58.99%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841248"/>
            <a:ext cx="2651760" cy="14630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896112"/>
            <a:ext cx="2468880" cy="1325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FPN (COCO pretrained)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epochs  ·  Kaggle T4 GPU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checkpoint: epoch 23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loss: 0.2294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2423160"/>
          <a:ext cx="5303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806440" y="2423160"/>
            <a:ext cx="297180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06440" y="2423160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242316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90.94%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178040" y="2423160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 (77K samples)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06440" y="3246120"/>
            <a:ext cx="297180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06440" y="3246120"/>
            <a:ext cx="6400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324612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24.57%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178040" y="3246120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Schizont  (179 samples)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806440" y="4069080"/>
            <a:ext cx="297180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06440" y="4069080"/>
            <a:ext cx="6400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0" y="406908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25.95%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178040" y="4069080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Gametocyte  (144 samples)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806440" y="48920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class AP is a direct function of training instance count — proving the class imbalance failure mode.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Evidence: P1 Proven Empirically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8229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pic>
        <p:nvPicPr>
          <p:cNvPr id="5" name="Image 0" descr="/sessions/busy-nice-lovelace/mnt/MalariAI-Automated-Malaria-Cell-Segmentation-from-Blood-Smear-Images/paper_writing/draft/fig_frcnn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5486400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960120"/>
            <a:ext cx="27432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72200" y="1014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Epoch 8–50: Hard Plateau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72200" y="1325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stuck at ~0.23 while train keeps falling. Model detects unannotated cells — penalised as false positives.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80760" y="2011680"/>
            <a:ext cx="27432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20665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Post-Epoch 50: Gets Worse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72200" y="2377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drop → train 0.08 but val rises to 0.28. Smaller updates cause over-commitment to unannotated cells.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80760" y="3063240"/>
            <a:ext cx="27432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31181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at Epoch 23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72200" y="3429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more training epochs produce no improvement and actively degrade performance. Structural ceiling — not optimisation.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3401568"/>
            <a:ext cx="5486400" cy="566928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419856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not overfitting. This is annotation incompleteness.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rate schedule can fix it within an end-to-end detector."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Contributions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96112"/>
            <a:ext cx="8412480" cy="126187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70432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9692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Label-Resilient Segmentation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132588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Annotation-agnostic Stage 1 detects every cell without ground-truth bounding boxes. Directly addresses P1 — the incomplete-annotation failure mode documented in NIH BBBC041.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14032" y="1298448"/>
            <a:ext cx="1554480" cy="758952"/>
          </a:xfrm>
          <a:prstGeom prst="rect">
            <a:avLst/>
          </a:prstGeom>
          <a:solidFill>
            <a:srgbClr val="E8F4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1325880"/>
            <a:ext cx="1481328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confirmed: val loss plateau at epoch 8 while train loss falls 5 more epochs.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8412480" cy="126187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42032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420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1872" y="23408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Density-Invariant Overlap Handling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61872" y="269748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Distance-transform watershed separates touching cells at instance level, recovering detections that NMS-based detectors systematically suppress in dense smear regions.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14032" y="2670048"/>
            <a:ext cx="1554480" cy="758952"/>
          </a:xfrm>
          <a:prstGeom prst="rect">
            <a:avLst/>
          </a:prstGeom>
          <a:solidFill>
            <a:srgbClr val="E8F4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2697480"/>
            <a:ext cx="1481328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of BBBC041 images contain cell pairs IoU &gt; 0.3 — empirical P2 motivation.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639312"/>
            <a:ext cx="8412480" cy="126187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913632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136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61872" y="37124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End-to-End Explainability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61872" y="406908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Grad-CAM++ heatmaps generated within the full detection-to-classification pipeline — crop detail AND full-image overlay. First whole-slide malaria system with integrated per-cell XAI.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14032" y="4041648"/>
            <a:ext cx="1554480" cy="758952"/>
          </a:xfrm>
          <a:prstGeom prst="rect">
            <a:avLst/>
          </a:prstGeom>
          <a:solidFill>
            <a:srgbClr val="E8F4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4069080"/>
            <a:ext cx="1481328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whole-slide system produces spatial heatmaps at inference — P3 gap confirmed.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Status &amp;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8229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70408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97864"/>
            <a:ext cx="301752" cy="3017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005840"/>
            <a:ext cx="109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21408" y="1005840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&amp; Dataset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1005840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· Overlap quantification · EDA plots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92440" y="1179576"/>
            <a:ext cx="566928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17957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801368"/>
            <a:ext cx="8412480" cy="70408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993392"/>
            <a:ext cx="301752" cy="3017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1801368"/>
            <a:ext cx="109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21408" y="1801368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R-CNN Baseline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1801368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epochs · mAP@0.5=58.99% · P1 &amp; P2 failure modes confirmed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1975104"/>
            <a:ext cx="566928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197510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8412480" cy="70408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88920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2596896"/>
            <a:ext cx="109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21408" y="2596896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Watershed + EfficientNet-B0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596896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watershed · Focal Loss classifier · Grad-CAM++ XAI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92440" y="2770632"/>
            <a:ext cx="56692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27706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392424"/>
            <a:ext cx="8412480" cy="70408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584448"/>
            <a:ext cx="301752" cy="3017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392424"/>
            <a:ext cx="109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21408" y="3392424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Web App + HuggingFace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3392424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3-card UI · Smear view / Cell gallery / Report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3566160"/>
            <a:ext cx="566928" cy="347472"/>
          </a:xfrm>
          <a:prstGeom prst="rect">
            <a:avLst/>
          </a:prstGeom>
          <a:solidFill>
            <a:srgbClr val="64748B">
              <a:alpha val="4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35661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4187952"/>
            <a:ext cx="8412480" cy="70408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379976"/>
            <a:ext cx="301752" cy="3017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4187952"/>
            <a:ext cx="109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21408" y="4187952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Evaluation, Ablation &amp; Paper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4187952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tables · Dense-region analysis · arXiv / MICCAI submission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92440" y="4361688"/>
            <a:ext cx="566928" cy="347472"/>
          </a:xfrm>
          <a:prstGeom prst="rect">
            <a:avLst/>
          </a:prstGeom>
          <a:solidFill>
            <a:srgbClr val="64748B">
              <a:alpha val="4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436168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Paper: Current Status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0" y="182880"/>
            <a:ext cx="2194560" cy="502920"/>
          </a:xfrm>
          <a:prstGeom prst="rect">
            <a:avLst/>
          </a:prstGeom>
          <a:solidFill>
            <a:srgbClr val="E8F4F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182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arXiv / MICCAI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41605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06984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86868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252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1605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892808"/>
            <a:ext cx="292608" cy="29260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6916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Introduction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20756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41605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71576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251460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Related Work (5 subsections)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2898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41605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353872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33756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 Dataset &amp; Setup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721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41605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6168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16052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§3.2–3.4 Pipeline 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" y="45445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Phase 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868680"/>
            <a:ext cx="41605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106984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86868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§3.5 Baseline 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84648" y="1252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691640"/>
            <a:ext cx="41605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189280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16916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§3.6 Evaluation Metrics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84648" y="20756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514600"/>
            <a:ext cx="41605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71576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84648" y="251460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§4.1–4.2 Experiments &amp; Results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84648" y="2898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(Baseline A)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337560"/>
            <a:ext cx="41605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3168" y="35387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84648" y="333756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Results &amp; Discussion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84648" y="3721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Phase 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4160520"/>
            <a:ext cx="416052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73168" y="4361688"/>
            <a:ext cx="292608" cy="29260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84648" y="416052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Conclusion &amp; Bibliography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84648" y="45445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MalariAI — addressing three unsolved problems in malaria AI, simultaneously.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029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to collaboration on: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Supervisory support for arXiv / MICCAI submission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883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Co-authorship on Results &amp; Discussion (§5)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90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Clinical validation of Grad-CAM++ outputs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Feedback on experimental design &amp; methodology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737360"/>
            <a:ext cx="3063240" cy="26060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0448" y="1874520"/>
            <a:ext cx="2880360" cy="2377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Kaysarul Anas Apurba
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Laurentian University, Canada
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kaysarulanas2@gmail.com
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Ali
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Melbourne Institute of Technology
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029200" cy="384048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62272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github.com/Anaskaysar/MalariAI-Automated-Malaria-Cell-Segmentation-from-Blood-Smear-Images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MalariAI — Project Demonstration</dc:title>
  <dc:subject>PptxGenJS Presentation</dc:subject>
  <dc:creator>Kaysarul Anas Apurba</dc:creator>
  <cp:lastModifiedBy>Kaysarul Anas Apurba</cp:lastModifiedBy>
  <cp:revision>1</cp:revision>
  <dcterms:created xsi:type="dcterms:W3CDTF">2026-05-11T03:10:16Z</dcterms:created>
  <dcterms:modified xsi:type="dcterms:W3CDTF">2026-05-11T03:10:16Z</dcterms:modified>
</cp:coreProperties>
</file>